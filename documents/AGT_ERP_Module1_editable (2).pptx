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4.png" ContentType="image/png"/>
  <Override PartName="/ppt/media/image23.jpeg" ContentType="image/jpeg"/>
  <Override PartName="/ppt/media/image49.png" ContentType="image/png"/>
  <Override PartName="/ppt/media/image22.png" ContentType="image/png"/>
  <Override PartName="/ppt/media/image21.png" ContentType="image/png"/>
  <Override PartName="/ppt/media/image20.png" ContentType="image/png"/>
  <Override PartName="/ppt/media/image18.png" ContentType="image/png"/>
  <Override PartName="/ppt/media/image16.png" ContentType="image/png"/>
  <Override PartName="/ppt/media/image15.jpeg" ContentType="image/jpeg"/>
  <Override PartName="/ppt/media/image14.png" ContentType="image/png"/>
  <Override PartName="/ppt/media/image28.png" ContentType="image/png"/>
  <Override PartName="/ppt/media/image38.jpeg" ContentType="image/jpeg"/>
  <Override PartName="/ppt/media/image5.png" ContentType="image/png"/>
  <Override PartName="/ppt/media/image35.png" ContentType="image/png"/>
  <Override PartName="/ppt/media/image27.jpeg" ContentType="image/jpeg"/>
  <Override PartName="/ppt/media/image50.jpeg" ContentType="image/jpeg"/>
  <Override PartName="/ppt/media/image52.png" ContentType="image/png"/>
  <Override PartName="/ppt/media/image10.png" ContentType="image/png"/>
  <Override PartName="/ppt/media/image1.jpeg" ContentType="image/jpeg"/>
  <Override PartName="/ppt/media/image47.png" ContentType="image/png"/>
  <Override PartName="/ppt/media/image9.jpeg" ContentType="image/jpeg"/>
  <Override PartName="/ppt/media/image11.png" ContentType="image/png"/>
  <Override PartName="/ppt/media/image26.png" ContentType="image/png"/>
  <Override PartName="/ppt/media/image17.jpeg" ContentType="image/jpeg"/>
  <Override PartName="/ppt/media/image3.png" ContentType="image/png"/>
  <Override PartName="/ppt/media/image33.png" ContentType="image/png"/>
  <Override PartName="/ppt/media/image39.png" ContentType="image/png"/>
  <Override PartName="/ppt/media/image41.png" ContentType="image/png"/>
  <Override PartName="/ppt/media/image31.png" ContentType="image/png"/>
  <Override PartName="/ppt/media/image29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jpeg" ContentType="image/jpeg"/>
  <Override PartName="/ppt/media/image54.png" ContentType="image/png"/>
  <Override PartName="/ppt/media/image32.jpeg" ContentType="image/jpeg"/>
  <Override PartName="/ppt/media/image51.png" ContentType="image/png"/>
  <Override PartName="/ppt/media/image48.jpeg" ContentType="image/jpeg"/>
  <Override PartName="/ppt/media/image53.png" ContentType="image/png"/>
  <Override PartName="/ppt/media/image55.jpeg" ContentType="image/jpeg"/>
  <Override PartName="/ppt/media/image30.png" ContentType="image/png"/>
  <Override PartName="/ppt/media/image13.png" ContentType="image/png"/>
  <Override PartName="/ppt/media/image12.jpeg" ContentType="image/jpeg"/>
  <Override PartName="/ppt/media/image8.png" ContentType="image/png"/>
  <Override PartName="/ppt/media/image37.png" ContentType="image/png"/>
  <Override PartName="/ppt/media/image34.jpeg" ContentType="image/jpeg"/>
  <Override PartName="/ppt/media/image7.png" ContentType="image/png"/>
  <Override PartName="/ppt/media/image6.png" ContentType="image/png"/>
  <Override PartName="/ppt/media/image36.png" ContentType="image/png"/>
  <Override PartName="/ppt/media/image40.png" ContentType="image/png"/>
  <Override PartName="/ppt/media/image4.jpeg" ContentType="image/jpeg"/>
  <Override PartName="/ppt/media/image2.png" ContentType="image/png"/>
  <Override PartName="/ppt/media/image42.jpeg" ContentType="image/jpeg"/>
  <Override PartName="/ppt/media/image25.png" ContentType="image/png"/>
  <Override PartName="/ppt/media/image19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</a:t>
            </a:r>
            <a:r>
              <a:rPr b="0" lang="fr-FR" sz="2000" spc="-1" strike="noStrike">
                <a:latin typeface="Arial"/>
              </a:rPr>
              <a:t>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DD0F7C0-2A3D-4A82-9109-59C907E5AE89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07AA256-B47C-467A-90A3-C06B84CF2E03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DF4005F-D7BC-493F-9979-909C269CB94F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B54AB09-D50C-45C1-AEA6-FDCDE6E3CA2D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51EDE3E-26B1-4233-A9F7-DEC7ACE99DB2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A5C5E35-7C54-4E0A-993B-511B345203C9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A88358-AAD3-42F7-A729-19C1BB7227FC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8CFDA7D-EF01-472F-8704-D946671B6E32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5ED60F1-3E37-451E-BB8A-1CB03B29482E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33D0713-EBB4-4D7E-AE9F-DEF981E35F0A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F099D4-CCA8-45F0-9A7C-2F015C54C814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25538B1-B0EC-4125-A751-FBBE9670FCFF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841CDDB-9082-4CF0-BFFF-7B04BAE045E9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CFD2B09-24A4-470E-8B91-5E2E21EFDFB9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499EC65-AADB-4772-AD77-5AC1A24C3803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44EBF61-51B8-47C3-A196-7600DB58B7DD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CE210D3-188E-4F0A-8DDC-411B46E66ABF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e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jpe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jpe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jpe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jpe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jpe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6;p1"/>
          <p:cNvSpPr/>
          <p:nvPr/>
        </p:nvSpPr>
        <p:spPr>
          <a:xfrm>
            <a:off x="731520" y="2148840"/>
            <a:ext cx="10725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6294d"/>
                </a:solidFill>
                <a:latin typeface="Calibri"/>
                <a:ea typeface="Calibri"/>
              </a:rPr>
              <a:t>AGT ERP : Évolution et Ingénierie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5" name="Google Shape;17;p1"/>
          <p:cNvSpPr/>
          <p:nvPr/>
        </p:nvSpPr>
        <p:spPr>
          <a:xfrm>
            <a:off x="1463040" y="3154680"/>
            <a:ext cx="926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e79"/>
                </a:solidFill>
                <a:latin typeface="Calibri"/>
                <a:ea typeface="Calibri"/>
              </a:rPr>
              <a:t>Module 1 : Implémentation du système RBAC et Tableau de Bord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6" name="Google Shape;18;p1"/>
          <p:cNvSpPr/>
          <p:nvPr/>
        </p:nvSpPr>
        <p:spPr>
          <a:xfrm>
            <a:off x="3192840" y="4525200"/>
            <a:ext cx="5534280" cy="1428480"/>
          </a:xfrm>
          <a:prstGeom prst="roundRect">
            <a:avLst>
              <a:gd name="adj" fmla="val 5161"/>
            </a:avLst>
          </a:prstGeom>
          <a:solidFill>
            <a:srgbClr val="f1f2f4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9;p1"/>
          <p:cNvSpPr/>
          <p:nvPr/>
        </p:nvSpPr>
        <p:spPr>
          <a:xfrm>
            <a:off x="3886200" y="464508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Présenté par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Hapket Darelle 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8" name="Google Shape;20;p1"/>
          <p:cNvSpPr/>
          <p:nvPr/>
        </p:nvSpPr>
        <p:spPr>
          <a:xfrm>
            <a:off x="3886200" y="505656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Encadrant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M. NOMO BODIANGA Gabriel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9" name="Google Shape;21;p1"/>
          <p:cNvSpPr/>
          <p:nvPr/>
        </p:nvSpPr>
        <p:spPr>
          <a:xfrm>
            <a:off x="3886200" y="54680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Période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27 juillet – 31juillet 2026</a:t>
            </a:r>
            <a:endParaRPr b="0" lang="fr-FR" sz="1500" spc="-1" strike="noStrike">
              <a:latin typeface="Arial"/>
            </a:endParaRPr>
          </a:p>
        </p:txBody>
      </p:sp>
      <p:pic>
        <p:nvPicPr>
          <p:cNvPr id="50" name="Google Shape;22;p1" descr=""/>
          <p:cNvPicPr/>
          <p:nvPr/>
        </p:nvPicPr>
        <p:blipFill>
          <a:blip r:embed="rId1"/>
          <a:stretch/>
        </p:blipFill>
        <p:spPr>
          <a:xfrm>
            <a:off x="34200" y="13356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51" name="Google Shape;23;p1" descr="image.png"/>
          <p:cNvPicPr/>
          <p:nvPr/>
        </p:nvPicPr>
        <p:blipFill>
          <a:blip r:embed="rId2"/>
          <a:stretch/>
        </p:blipFill>
        <p:spPr>
          <a:xfrm>
            <a:off x="10431720" y="325440"/>
            <a:ext cx="1428480" cy="104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29;g3f60dee6a5a_2_0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30;g3f60dee6a5a_2_0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PLAN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54" name="Google Shape;31;g3f60dee6a5a_2_0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32;g3f60dee6a5a_2_0"/>
          <p:cNvSpPr/>
          <p:nvPr/>
        </p:nvSpPr>
        <p:spPr>
          <a:xfrm>
            <a:off x="1234440" y="180144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33;g3f60dee6a5a_2_0"/>
          <p:cNvSpPr/>
          <p:nvPr/>
        </p:nvSpPr>
        <p:spPr>
          <a:xfrm>
            <a:off x="1234440" y="18014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7" name="Google Shape;34;g3f60dee6a5a_2_0"/>
          <p:cNvSpPr/>
          <p:nvPr/>
        </p:nvSpPr>
        <p:spPr>
          <a:xfrm>
            <a:off x="2057400" y="169164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Cahier des charges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Contexte, objectifs, périmètre S1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8" name="Google Shape;35;g3f60dee6a5a_2_0"/>
          <p:cNvSpPr/>
          <p:nvPr/>
        </p:nvSpPr>
        <p:spPr>
          <a:xfrm>
            <a:off x="1234440" y="289872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36;g3f60dee6a5a_2_0"/>
          <p:cNvSpPr/>
          <p:nvPr/>
        </p:nvSpPr>
        <p:spPr>
          <a:xfrm>
            <a:off x="1234440" y="2898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0" name="Google Shape;37;g3f60dee6a5a_2_0"/>
          <p:cNvSpPr/>
          <p:nvPr/>
        </p:nvSpPr>
        <p:spPr>
          <a:xfrm>
            <a:off x="2057400" y="278892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Analyse du système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Acteurs, cas d'usage, classes, packages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1" name="Google Shape;38;g3f60dee6a5a_2_0"/>
          <p:cNvSpPr/>
          <p:nvPr/>
        </p:nvSpPr>
        <p:spPr>
          <a:xfrm>
            <a:off x="1234440" y="399600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39;g3f60dee6a5a_2_0"/>
          <p:cNvSpPr/>
          <p:nvPr/>
        </p:nvSpPr>
        <p:spPr>
          <a:xfrm>
            <a:off x="1234440" y="3996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3" name="Google Shape;40;g3f60dee6a5a_2_0"/>
          <p:cNvSpPr/>
          <p:nvPr/>
        </p:nvSpPr>
        <p:spPr>
          <a:xfrm>
            <a:off x="2057400" y="388620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Conception technique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Architecture, états-transitions, activités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4" name="Google Shape;41;g3f60dee6a5a_2_0"/>
          <p:cNvSpPr/>
          <p:nvPr/>
        </p:nvSpPr>
        <p:spPr>
          <a:xfrm>
            <a:off x="1234440" y="509328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42;g3f60dee6a5a_2_0"/>
          <p:cNvSpPr/>
          <p:nvPr/>
        </p:nvSpPr>
        <p:spPr>
          <a:xfrm>
            <a:off x="1234440" y="50932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6" name="Google Shape;43;g3f60dee6a5a_2_0"/>
          <p:cNvSpPr/>
          <p:nvPr/>
        </p:nvSpPr>
        <p:spPr>
          <a:xfrm>
            <a:off x="2057400" y="498348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Implémentation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Choix technologiques &amp; extensibilité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7" name="Google Shape;44;g3f60dee6a5a_2_0"/>
          <p:cNvSpPr/>
          <p:nvPr/>
        </p:nvSpPr>
        <p:spPr>
          <a:xfrm>
            <a:off x="6537960" y="180144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45;g3f60dee6a5a_2_0"/>
          <p:cNvSpPr/>
          <p:nvPr/>
        </p:nvSpPr>
        <p:spPr>
          <a:xfrm>
            <a:off x="6537960" y="18014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9" name="Google Shape;46;g3f60dee6a5a_2_0"/>
          <p:cNvSpPr/>
          <p:nvPr/>
        </p:nvSpPr>
        <p:spPr>
          <a:xfrm>
            <a:off x="7360920" y="169164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Prototype &amp; Démonstration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Plateforme live et démo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0" name="Google Shape;47;g3f60dee6a5a_2_0"/>
          <p:cNvSpPr/>
          <p:nvPr/>
        </p:nvSpPr>
        <p:spPr>
          <a:xfrm>
            <a:off x="6537960" y="289872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Google Shape;48;g3f60dee6a5a_2_0"/>
          <p:cNvSpPr/>
          <p:nvPr/>
        </p:nvSpPr>
        <p:spPr>
          <a:xfrm>
            <a:off x="6537960" y="2898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2" name="Google Shape;49;g3f60dee6a5a_2_0"/>
          <p:cNvSpPr/>
          <p:nvPr/>
        </p:nvSpPr>
        <p:spPr>
          <a:xfrm>
            <a:off x="7360920" y="278892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Validation et Tests</a:t>
            </a:r>
            <a:br>
              <a:rPr sz="1800"/>
            </a:br>
            <a:r>
              <a:rPr b="0" lang="en-US" sz="1300" spc="-1" strike="noStrike">
                <a:solidFill>
                  <a:srgbClr val="6b7280"/>
                </a:solidFill>
                <a:latin typeface="Calibri"/>
                <a:ea typeface="Calibri"/>
              </a:rPr>
              <a:t>Rapport de tests fonctionnels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3" name="Google Shape;50;g3f60dee6a5a_2_0"/>
          <p:cNvSpPr/>
          <p:nvPr/>
        </p:nvSpPr>
        <p:spPr>
          <a:xfrm>
            <a:off x="6537960" y="3996000"/>
            <a:ext cx="639720" cy="639720"/>
          </a:xfrm>
          <a:prstGeom prst="ellipse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Google Shape;51;g3f60dee6a5a_2_0"/>
          <p:cNvSpPr/>
          <p:nvPr/>
        </p:nvSpPr>
        <p:spPr>
          <a:xfrm>
            <a:off x="6537960" y="3996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5" name="Google Shape;52;g3f60dee6a5a_2_0"/>
          <p:cNvSpPr/>
          <p:nvPr/>
        </p:nvSpPr>
        <p:spPr>
          <a:xfrm>
            <a:off x="7360920" y="388620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94d"/>
                </a:solidFill>
                <a:latin typeface="Calibri"/>
                <a:ea typeface="Calibri"/>
              </a:rPr>
              <a:t>Perspectives </a:t>
            </a:r>
            <a:endParaRPr b="0" lang="fr-FR" sz="1800" spc="-1" strike="noStrike">
              <a:latin typeface="Arial"/>
            </a:endParaRPr>
          </a:p>
        </p:txBody>
      </p:sp>
      <p:pic>
        <p:nvPicPr>
          <p:cNvPr id="76" name="Google Shape;53;g3f60dee6a5a_2_0" descr=""/>
          <p:cNvPicPr/>
          <p:nvPr/>
        </p:nvPicPr>
        <p:blipFill>
          <a:blip r:embed="rId2"/>
          <a:stretch/>
        </p:blipFill>
        <p:spPr>
          <a:xfrm>
            <a:off x="34200" y="13356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54;g3f60dee6a5a_2_0" descr="image.png"/>
          <p:cNvPicPr/>
          <p:nvPr/>
        </p:nvPicPr>
        <p:blipFill>
          <a:blip r:embed="rId3"/>
          <a:stretch/>
        </p:blipFill>
        <p:spPr>
          <a:xfrm>
            <a:off x="11024640" y="168120"/>
            <a:ext cx="868320" cy="63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60;p2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61;p2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1. CAHIER DES CHARGES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80" name="Google Shape;62;p2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63;p2"/>
          <p:cNvSpPr/>
          <p:nvPr/>
        </p:nvSpPr>
        <p:spPr>
          <a:xfrm>
            <a:off x="321552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Google Shape;64;p2"/>
          <p:cNvSpPr/>
          <p:nvPr/>
        </p:nvSpPr>
        <p:spPr>
          <a:xfrm>
            <a:off x="321552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Contexte et Objectif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3" name="Google Shape;65;p2"/>
          <p:cNvSpPr/>
          <p:nvPr/>
        </p:nvSpPr>
        <p:spPr>
          <a:xfrm>
            <a:off x="623304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Google Shape;66;p2"/>
          <p:cNvSpPr/>
          <p:nvPr/>
        </p:nvSpPr>
        <p:spPr>
          <a:xfrm>
            <a:off x="623304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Périmètre S1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5" name="Google Shape;67;p2"/>
          <p:cNvSpPr/>
          <p:nvPr/>
        </p:nvSpPr>
        <p:spPr>
          <a:xfrm>
            <a:off x="73152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L'Existant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6" name="Google Shape;68;p2"/>
          <p:cNvSpPr/>
          <p:nvPr/>
        </p:nvSpPr>
        <p:spPr>
          <a:xfrm>
            <a:off x="685800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La Cible</a:t>
            </a:r>
            <a:endParaRPr b="0" lang="fr-FR" sz="2200" spc="-1" strike="noStrike">
              <a:latin typeface="Arial"/>
            </a:endParaRPr>
          </a:p>
        </p:txBody>
      </p:sp>
      <p:pic>
        <p:nvPicPr>
          <p:cNvPr id="87" name="Google Shape;69;p2" descr="/tmp/build/assets/ic_checklist.png"/>
          <p:cNvPicPr/>
          <p:nvPr/>
        </p:nvPicPr>
        <p:blipFill>
          <a:blip r:embed="rId2"/>
          <a:stretch/>
        </p:blipFill>
        <p:spPr>
          <a:xfrm>
            <a:off x="2514600" y="2651760"/>
            <a:ext cx="1005480" cy="114264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70;p2" descr="/tmp/build/assets/ic_erp.png"/>
          <p:cNvPicPr/>
          <p:nvPr/>
        </p:nvPicPr>
        <p:blipFill>
          <a:blip r:embed="rId3"/>
          <a:stretch/>
        </p:blipFill>
        <p:spPr>
          <a:xfrm>
            <a:off x="8595360" y="260604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71;p2"/>
          <p:cNvSpPr/>
          <p:nvPr/>
        </p:nvSpPr>
        <p:spPr>
          <a:xfrm>
            <a:off x="6089760" y="2148840"/>
            <a:ext cx="360" cy="2468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Google Shape;72;p2"/>
          <p:cNvSpPr/>
          <p:nvPr/>
        </p:nvSpPr>
        <p:spPr>
          <a:xfrm>
            <a:off x="731520" y="39776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6294d"/>
                </a:solidFill>
                <a:latin typeface="Calibri"/>
                <a:ea typeface="Calibri"/>
              </a:rPr>
              <a:t>AGT TaskFlow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91" name="Google Shape;73;p2"/>
          <p:cNvSpPr/>
          <p:nvPr/>
        </p:nvSpPr>
        <p:spPr>
          <a:xfrm>
            <a:off x="1005840" y="438912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Outil actuel de gestion de tâches, PERT et Gantt en production.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92" name="Google Shape;74;p2"/>
          <p:cNvSpPr/>
          <p:nvPr/>
        </p:nvSpPr>
        <p:spPr>
          <a:xfrm>
            <a:off x="6858000" y="39776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6294d"/>
                </a:solidFill>
                <a:latin typeface="Calibri"/>
                <a:ea typeface="Calibri"/>
              </a:rPr>
              <a:t>AGT ERP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93" name="Google Shape;75;p2"/>
          <p:cNvSpPr/>
          <p:nvPr/>
        </p:nvSpPr>
        <p:spPr>
          <a:xfrm>
            <a:off x="7132320" y="438912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Plateforme de pilotage intégral (Projets, Accès, RH, Finances, Matériel).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94" name="Google Shape;76;p2"/>
          <p:cNvSpPr/>
          <p:nvPr/>
        </p:nvSpPr>
        <p:spPr>
          <a:xfrm>
            <a:off x="2011680" y="5440680"/>
            <a:ext cx="8137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9e2530"/>
                </a:solidFill>
                <a:latin typeface="Calibri"/>
                <a:ea typeface="Calibri"/>
              </a:rPr>
              <a:t>L'objectif : Transformer un gestionnaire de tâches en un ERP complet sans interrompre la production existante.</a:t>
            </a:r>
            <a:endParaRPr b="0" lang="fr-FR" sz="1500" spc="-1" strike="noStrike">
              <a:latin typeface="Arial"/>
            </a:endParaRPr>
          </a:p>
        </p:txBody>
      </p:sp>
      <p:pic>
        <p:nvPicPr>
          <p:cNvPr id="95" name="Google Shape;77;p2" descr=""/>
          <p:cNvPicPr/>
          <p:nvPr/>
        </p:nvPicPr>
        <p:blipFill>
          <a:blip r:embed="rId4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78;p2" descr="image.png"/>
          <p:cNvPicPr/>
          <p:nvPr/>
        </p:nvPicPr>
        <p:blipFill>
          <a:blip r:embed="rId5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84;p3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85;p3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1. CAHIER DES CHARGES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99" name="Google Shape;86;p3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Google Shape;87;p3"/>
          <p:cNvSpPr/>
          <p:nvPr/>
        </p:nvSpPr>
        <p:spPr>
          <a:xfrm>
            <a:off x="1685160" y="129600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Google Shape;88;p3"/>
          <p:cNvSpPr/>
          <p:nvPr/>
        </p:nvSpPr>
        <p:spPr>
          <a:xfrm>
            <a:off x="1828800" y="129600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Contexte et Objectif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2" name="Google Shape;89;p3"/>
          <p:cNvSpPr/>
          <p:nvPr/>
        </p:nvSpPr>
        <p:spPr>
          <a:xfrm>
            <a:off x="5288400" y="129600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Google Shape;90;p3"/>
          <p:cNvSpPr/>
          <p:nvPr/>
        </p:nvSpPr>
        <p:spPr>
          <a:xfrm>
            <a:off x="4834800" y="129600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Périmètre S1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4" name="Google Shape;91;p3"/>
          <p:cNvSpPr/>
          <p:nvPr/>
        </p:nvSpPr>
        <p:spPr>
          <a:xfrm>
            <a:off x="640080" y="20574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294d"/>
                </a:solidFill>
                <a:latin typeface="Calibri"/>
                <a:ea typeface="Calibri"/>
              </a:rPr>
              <a:t>Exigences Fonctionnelles 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105" name="Google Shape;92;p3"/>
          <p:cNvSpPr/>
          <p:nvPr/>
        </p:nvSpPr>
        <p:spPr>
          <a:xfrm>
            <a:off x="6309360" y="205740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294d"/>
                </a:solidFill>
                <a:latin typeface="Calibri"/>
                <a:ea typeface="Calibri"/>
              </a:rPr>
              <a:t>Exigences Non-Fonctionnelles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106" name="Google Shape;93;p3"/>
          <p:cNvSpPr/>
          <p:nvPr/>
        </p:nvSpPr>
        <p:spPr>
          <a:xfrm>
            <a:off x="685800" y="2606040"/>
            <a:ext cx="52117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Google Shape;94;p3"/>
          <p:cNvSpPr/>
          <p:nvPr/>
        </p:nvSpPr>
        <p:spPr>
          <a:xfrm>
            <a:off x="960120" y="260604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BF-01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Création automatique d'un Superadmin.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08" name="Google Shape;95;p3"/>
          <p:cNvSpPr/>
          <p:nvPr/>
        </p:nvSpPr>
        <p:spPr>
          <a:xfrm>
            <a:off x="685800" y="3611880"/>
            <a:ext cx="52117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Google Shape;96;p3"/>
          <p:cNvSpPr/>
          <p:nvPr/>
        </p:nvSpPr>
        <p:spPr>
          <a:xfrm>
            <a:off x="960120" y="361188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BF-02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gestion des roles et des permissions 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10" name="Google Shape;97;p3"/>
          <p:cNvSpPr/>
          <p:nvPr/>
        </p:nvSpPr>
        <p:spPr>
          <a:xfrm>
            <a:off x="685800" y="4617720"/>
            <a:ext cx="52117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Google Shape;98;p3"/>
          <p:cNvSpPr/>
          <p:nvPr/>
        </p:nvSpPr>
        <p:spPr>
          <a:xfrm>
            <a:off x="960120" y="46177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BF-08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Tableau de bord dynamique adaptatif selon le rôle.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500" spc="-1" strike="noStrike">
              <a:latin typeface="Arial"/>
            </a:endParaRPr>
          </a:p>
        </p:txBody>
      </p:sp>
      <p:sp>
        <p:nvSpPr>
          <p:cNvPr id="112" name="Google Shape;99;p3"/>
          <p:cNvSpPr/>
          <p:nvPr/>
        </p:nvSpPr>
        <p:spPr>
          <a:xfrm>
            <a:off x="6309360" y="2606040"/>
            <a:ext cx="5166000" cy="1096920"/>
          </a:xfrm>
          <a:prstGeom prst="roundRect">
            <a:avLst>
              <a:gd name="adj" fmla="val 6667"/>
            </a:avLst>
          </a:prstGeom>
          <a:solidFill>
            <a:srgbClr val="f1f2f4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Google Shape;100;p3"/>
          <p:cNvSpPr/>
          <p:nvPr/>
        </p:nvSpPr>
        <p:spPr>
          <a:xfrm>
            <a:off x="6583680" y="260604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BNF-00 (Continuité)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Mises à jour de base de données non-destructives  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14" name="Google Shape;101;p3"/>
          <p:cNvSpPr/>
          <p:nvPr/>
        </p:nvSpPr>
        <p:spPr>
          <a:xfrm>
            <a:off x="6309360" y="3977640"/>
            <a:ext cx="5166000" cy="1096920"/>
          </a:xfrm>
          <a:prstGeom prst="roundRect">
            <a:avLst>
              <a:gd name="adj" fmla="val 6667"/>
            </a:avLst>
          </a:prstGeom>
          <a:solidFill>
            <a:srgbClr val="f1f2f4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Google Shape;102;p3"/>
          <p:cNvSpPr/>
          <p:nvPr/>
        </p:nvSpPr>
        <p:spPr>
          <a:xfrm>
            <a:off x="6583680" y="397764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BNF-01 (Sécurité) : 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Système d’authentification sécurisée avec JWT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16" name="Google Shape;103;p3"/>
          <p:cNvSpPr/>
          <p:nvPr/>
        </p:nvSpPr>
        <p:spPr>
          <a:xfrm>
            <a:off x="1516680" y="6480000"/>
            <a:ext cx="802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9e2530"/>
                </a:solidFill>
                <a:latin typeface="Calibri"/>
                <a:ea typeface="Calibri"/>
              </a:rPr>
              <a:t>Périmètre S1 : Un socle de sécurité (RBAC) robuste et évolutif.</a:t>
            </a:r>
            <a:endParaRPr b="0" lang="fr-FR" sz="1700" spc="-1" strike="noStrike">
              <a:latin typeface="Arial"/>
            </a:endParaRPr>
          </a:p>
        </p:txBody>
      </p:sp>
      <p:pic>
        <p:nvPicPr>
          <p:cNvPr id="117" name="Google Shape;104;p3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105;p3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06;p3"/>
          <p:cNvSpPr/>
          <p:nvPr/>
        </p:nvSpPr>
        <p:spPr>
          <a:xfrm>
            <a:off x="685800" y="5623560"/>
            <a:ext cx="52117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 </a:t>
            </a:r>
            <a:r>
              <a:rPr b="1" lang="en-US" sz="1500" spc="-1" strike="noStrike">
                <a:solidFill>
                  <a:srgbClr val="16294d"/>
                </a:solidFill>
                <a:latin typeface="Calibri"/>
                <a:ea typeface="Calibri"/>
              </a:rPr>
              <a:t>BF-09 :</a:t>
            </a: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 import et export de la base de données </a:t>
            </a:r>
            <a:endParaRPr b="0" lang="fr-FR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12;p4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13;p4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2. ANALYSE DU SYSTÈME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22" name="Google Shape;114;p4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Google Shape;115;p4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Google Shape;116;p4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Acteurs &amp; Use Case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5" name="Google Shape;117;p4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Google Shape;118;p4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Classes Métier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7" name="Google Shape;119;p4"/>
          <p:cNvSpPr/>
          <p:nvPr/>
        </p:nvSpPr>
        <p:spPr>
          <a:xfrm>
            <a:off x="774180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Google Shape;120;p4"/>
          <p:cNvSpPr/>
          <p:nvPr/>
        </p:nvSpPr>
        <p:spPr>
          <a:xfrm>
            <a:off x="774180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Structuration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9" name="Google Shape;121;p4"/>
          <p:cNvSpPr/>
          <p:nvPr/>
        </p:nvSpPr>
        <p:spPr>
          <a:xfrm>
            <a:off x="502920" y="2148840"/>
            <a:ext cx="5120280" cy="822600"/>
          </a:xfrm>
          <a:prstGeom prst="rect">
            <a:avLst/>
          </a:prstGeom>
          <a:solidFill>
            <a:srgbClr val="f1f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9e2530"/>
                </a:solidFill>
                <a:latin typeface="Calibri"/>
                <a:ea typeface="Calibri"/>
              </a:rPr>
              <a:t>Le paradigme de découplage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30" name="Google Shape;122;p4"/>
          <p:cNvSpPr/>
          <p:nvPr/>
        </p:nvSpPr>
        <p:spPr>
          <a:xfrm>
            <a:off x="594360" y="372924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294d"/>
                </a:solidFill>
                <a:latin typeface="Calibri"/>
                <a:ea typeface="Calibri"/>
              </a:rPr>
              <a:t>Rôles Globaux (Plateforme) :</a:t>
            </a:r>
            <a:br>
              <a:rPr sz="1700"/>
            </a:b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Superadmin, Admin, Chef de projet, Membre.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31" name="Google Shape;123;p4"/>
          <p:cNvSpPr/>
          <p:nvPr/>
        </p:nvSpPr>
        <p:spPr>
          <a:xfrm>
            <a:off x="594360" y="507816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294d"/>
                </a:solidFill>
                <a:latin typeface="Calibri"/>
                <a:ea typeface="Calibri"/>
              </a:rPr>
              <a:t>Rôles Projets (Local) :</a:t>
            </a:r>
            <a:br>
              <a:rPr sz="1700"/>
            </a:br>
            <a:r>
              <a:rPr b="0" lang="en-US" sz="1500" spc="-1" strike="noStrike">
                <a:solidFill>
                  <a:srgbClr val="222b3a"/>
                </a:solidFill>
                <a:latin typeface="Calibri"/>
                <a:ea typeface="Calibri"/>
              </a:rPr>
              <a:t>Propriétaire, Manager, Contributeur.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32" name="Google Shape;124;p4"/>
          <p:cNvSpPr/>
          <p:nvPr/>
        </p:nvSpPr>
        <p:spPr>
          <a:xfrm>
            <a:off x="5989320" y="2103120"/>
            <a:ext cx="5714640" cy="425160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3" name="Google Shape;125;p4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126;p4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127;p4" descr=""/>
          <p:cNvPicPr/>
          <p:nvPr/>
        </p:nvPicPr>
        <p:blipFill>
          <a:blip r:embed="rId4"/>
          <a:stretch/>
        </p:blipFill>
        <p:spPr>
          <a:xfrm>
            <a:off x="5989320" y="2030040"/>
            <a:ext cx="5714640" cy="4381200"/>
          </a:xfrm>
          <a:prstGeom prst="rect">
            <a:avLst/>
          </a:prstGeom>
          <a:ln w="15875">
            <a:solidFill>
              <a:srgbClr val="16294d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3;g3f60dee6a5a_0_46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134;g3f60dee6a5a_0_46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2. ANALYSE DU SYSTÈME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38" name="Google Shape;135;g3f60dee6a5a_0_46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Google Shape;136;g3f60dee6a5a_0_46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Google Shape;137;g3f60dee6a5a_0_46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Acteurs &amp; Use Case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1" name="Google Shape;138;g3f60dee6a5a_0_46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Google Shape;139;g3f60dee6a5a_0_46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Classes Métier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3" name="Google Shape;140;g3f60dee6a5a_0_46"/>
          <p:cNvSpPr/>
          <p:nvPr/>
        </p:nvSpPr>
        <p:spPr>
          <a:xfrm>
            <a:off x="774180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Google Shape;141;g3f60dee6a5a_0_46"/>
          <p:cNvSpPr/>
          <p:nvPr/>
        </p:nvSpPr>
        <p:spPr>
          <a:xfrm>
            <a:off x="774180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Structuration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145" name="Google Shape;142;g3f60dee6a5a_0_46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46" name="Google Shape;143;g3f60dee6a5a_0_46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144;g3f60dee6a5a_0_46" descr=""/>
          <p:cNvPicPr/>
          <p:nvPr/>
        </p:nvPicPr>
        <p:blipFill>
          <a:blip r:embed="rId4"/>
          <a:stretch/>
        </p:blipFill>
        <p:spPr>
          <a:xfrm>
            <a:off x="813960" y="1933920"/>
            <a:ext cx="9974880" cy="492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50;p5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149" name="Google Shape;151;p5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2. ANALYSE DU SYSTÈME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50" name="Google Shape;152;p5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Google Shape;153;p5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Google Shape;154;p5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Acteurs &amp; Use Case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53" name="Google Shape;155;p5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Google Shape;156;p5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Classes Métier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55" name="Google Shape;157;p5"/>
          <p:cNvSpPr/>
          <p:nvPr/>
        </p:nvSpPr>
        <p:spPr>
          <a:xfrm>
            <a:off x="774180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Google Shape;158;p5"/>
          <p:cNvSpPr/>
          <p:nvPr/>
        </p:nvSpPr>
        <p:spPr>
          <a:xfrm>
            <a:off x="774180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Structuration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157" name="Google Shape;159;p5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160;p5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161;p5" descr=""/>
          <p:cNvPicPr/>
          <p:nvPr/>
        </p:nvPicPr>
        <p:blipFill>
          <a:blip r:embed="rId4"/>
          <a:srcRect l="0" t="0" r="-37360" b="0"/>
          <a:stretch/>
        </p:blipFill>
        <p:spPr>
          <a:xfrm>
            <a:off x="0" y="2030040"/>
            <a:ext cx="12191760" cy="4827600"/>
          </a:xfrm>
          <a:prstGeom prst="rect">
            <a:avLst/>
          </a:prstGeom>
          <a:ln w="12700">
            <a:solidFill>
              <a:srgbClr val="c7cbd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7;p6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161" name="Google Shape;168;p6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2. ANALYSE DU SYSTÈME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62" name="Google Shape;169;p6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Google Shape;170;p6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Google Shape;171;p6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Acteurs &amp; Use Case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65" name="Google Shape;172;p6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Google Shape;173;p6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Classes Métier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67" name="Google Shape;174;p6"/>
          <p:cNvSpPr/>
          <p:nvPr/>
        </p:nvSpPr>
        <p:spPr>
          <a:xfrm>
            <a:off x="774180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Google Shape;175;p6"/>
          <p:cNvSpPr/>
          <p:nvPr/>
        </p:nvSpPr>
        <p:spPr>
          <a:xfrm>
            <a:off x="774180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Structuration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69" name="Google Shape;176;p6"/>
          <p:cNvSpPr/>
          <p:nvPr/>
        </p:nvSpPr>
        <p:spPr>
          <a:xfrm>
            <a:off x="2194560" y="2148840"/>
            <a:ext cx="7772040" cy="251424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Google Shape;177;p6"/>
          <p:cNvSpPr/>
          <p:nvPr/>
        </p:nvSpPr>
        <p:spPr>
          <a:xfrm>
            <a:off x="2194560" y="22402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Diagramme de Packages — AGT ERP (Module 1 : RBAC)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1" name="Google Shape;178;p6"/>
          <p:cNvSpPr/>
          <p:nvPr/>
        </p:nvSpPr>
        <p:spPr>
          <a:xfrm>
            <a:off x="2514600" y="2514600"/>
            <a:ext cx="19198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Google Shape;179;p6"/>
          <p:cNvSpPr/>
          <p:nvPr/>
        </p:nvSpPr>
        <p:spPr>
          <a:xfrm>
            <a:off x="2514600" y="251460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Authentification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3" name="Google Shape;180;p6"/>
          <p:cNvSpPr/>
          <p:nvPr/>
        </p:nvSpPr>
        <p:spPr>
          <a:xfrm>
            <a:off x="4983480" y="2514600"/>
            <a:ext cx="19198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Google Shape;181;p6"/>
          <p:cNvSpPr/>
          <p:nvPr/>
        </p:nvSpPr>
        <p:spPr>
          <a:xfrm>
            <a:off x="4983480" y="251460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Utilisateurs / Roles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5" name="Google Shape;182;p6"/>
          <p:cNvSpPr/>
          <p:nvPr/>
        </p:nvSpPr>
        <p:spPr>
          <a:xfrm>
            <a:off x="7452360" y="2514600"/>
            <a:ext cx="19198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Google Shape;183;p6"/>
          <p:cNvSpPr/>
          <p:nvPr/>
        </p:nvSpPr>
        <p:spPr>
          <a:xfrm>
            <a:off x="7452360" y="251460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Permissions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7" name="Google Shape;184;p6"/>
          <p:cNvSpPr/>
          <p:nvPr/>
        </p:nvSpPr>
        <p:spPr>
          <a:xfrm>
            <a:off x="3749040" y="3794760"/>
            <a:ext cx="19198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Google Shape;185;p6"/>
          <p:cNvSpPr/>
          <p:nvPr/>
        </p:nvSpPr>
        <p:spPr>
          <a:xfrm>
            <a:off x="3749040" y="379476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Projets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9" name="Google Shape;186;p6"/>
          <p:cNvSpPr/>
          <p:nvPr/>
        </p:nvSpPr>
        <p:spPr>
          <a:xfrm>
            <a:off x="6217920" y="3794760"/>
            <a:ext cx="19198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Google Shape;187;p6"/>
          <p:cNvSpPr/>
          <p:nvPr/>
        </p:nvSpPr>
        <p:spPr>
          <a:xfrm>
            <a:off x="6217920" y="379476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Tableau de bord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1" name="Google Shape;188;p6"/>
          <p:cNvSpPr/>
          <p:nvPr/>
        </p:nvSpPr>
        <p:spPr>
          <a:xfrm>
            <a:off x="4434840" y="2788920"/>
            <a:ext cx="548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Google Shape;189;p6"/>
          <p:cNvSpPr/>
          <p:nvPr/>
        </p:nvSpPr>
        <p:spPr>
          <a:xfrm>
            <a:off x="6903720" y="2788920"/>
            <a:ext cx="548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Google Shape;190;p6"/>
          <p:cNvSpPr/>
          <p:nvPr/>
        </p:nvSpPr>
        <p:spPr>
          <a:xfrm flipH="1" rot="10800000">
            <a:off x="4709520" y="3063600"/>
            <a:ext cx="685440" cy="73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Google Shape;191;p6"/>
          <p:cNvSpPr/>
          <p:nvPr/>
        </p:nvSpPr>
        <p:spPr>
          <a:xfrm rot="10800000">
            <a:off x="6309720" y="3063600"/>
            <a:ext cx="548280" cy="73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Google Shape;192;p6"/>
          <p:cNvSpPr/>
          <p:nvPr/>
        </p:nvSpPr>
        <p:spPr>
          <a:xfrm flipH="1" rot="10800000">
            <a:off x="7954920" y="3063600"/>
            <a:ext cx="365400" cy="73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Google Shape;193;p6"/>
          <p:cNvSpPr/>
          <p:nvPr/>
        </p:nvSpPr>
        <p:spPr>
          <a:xfrm rot="10800000">
            <a:off x="5669640" y="4068720"/>
            <a:ext cx="548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Google Shape;194;p6"/>
          <p:cNvSpPr/>
          <p:nvPr/>
        </p:nvSpPr>
        <p:spPr>
          <a:xfrm>
            <a:off x="960120" y="5440680"/>
            <a:ext cx="3382920" cy="1416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Google Shape;195;p6"/>
          <p:cNvSpPr/>
          <p:nvPr/>
        </p:nvSpPr>
        <p:spPr>
          <a:xfrm>
            <a:off x="960120" y="55090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e2530"/>
                </a:solidFill>
                <a:latin typeface="Calibri"/>
                <a:ea typeface="Calibri"/>
              </a:rPr>
              <a:t>1. Authentification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89" name="Google Shape;196;p6"/>
          <p:cNvSpPr/>
          <p:nvPr/>
        </p:nvSpPr>
        <p:spPr>
          <a:xfrm>
            <a:off x="1143000" y="598932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22b3a"/>
                </a:solidFill>
                <a:latin typeface="Calibri"/>
                <a:ea typeface="Calibri"/>
              </a:rPr>
              <a:t>Gestion des connexions et JWT.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90" name="Google Shape;197;p6"/>
          <p:cNvSpPr/>
          <p:nvPr/>
        </p:nvSpPr>
        <p:spPr>
          <a:xfrm>
            <a:off x="4727160" y="5440680"/>
            <a:ext cx="3382920" cy="1416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Google Shape;198;p6"/>
          <p:cNvSpPr/>
          <p:nvPr/>
        </p:nvSpPr>
        <p:spPr>
          <a:xfrm>
            <a:off x="4887000" y="55090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e2530"/>
                </a:solidFill>
                <a:latin typeface="Calibri"/>
                <a:ea typeface="Calibri"/>
              </a:rPr>
              <a:t>2. Utilisateurs / Rôles &amp; Permissions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92" name="Google Shape;199;p6"/>
          <p:cNvSpPr/>
          <p:nvPr/>
        </p:nvSpPr>
        <p:spPr>
          <a:xfrm>
            <a:off x="4841280" y="594360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22b3a"/>
                </a:solidFill>
                <a:latin typeface="Calibri"/>
                <a:ea typeface="Calibri"/>
              </a:rPr>
              <a:t>Le cœur du RBAC, agissant comme middleware global.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93" name="Google Shape;200;p6"/>
          <p:cNvSpPr/>
          <p:nvPr/>
        </p:nvSpPr>
        <p:spPr>
          <a:xfrm>
            <a:off x="8494200" y="5440680"/>
            <a:ext cx="3382920" cy="1416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Google Shape;201;p6"/>
          <p:cNvSpPr/>
          <p:nvPr/>
        </p:nvSpPr>
        <p:spPr>
          <a:xfrm>
            <a:off x="8631360" y="55090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e2530"/>
                </a:solidFill>
                <a:latin typeface="Calibri"/>
                <a:ea typeface="Calibri"/>
              </a:rPr>
              <a:t>3. Tableau de bord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95" name="Google Shape;202;p6"/>
          <p:cNvSpPr/>
          <p:nvPr/>
        </p:nvSpPr>
        <p:spPr>
          <a:xfrm>
            <a:off x="8677080" y="580176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22b3a"/>
                </a:solidFill>
                <a:latin typeface="Calibri"/>
                <a:ea typeface="Calibri"/>
              </a:rPr>
              <a:t>Conteneur presque vide en S1, prêt à recevoir les widgets des futurs modules (S2-S4).</a:t>
            </a:r>
            <a:endParaRPr b="0" lang="fr-FR" sz="1300" spc="-1" strike="noStrike">
              <a:latin typeface="Arial"/>
            </a:endParaRPr>
          </a:p>
        </p:txBody>
      </p:sp>
      <p:pic>
        <p:nvPicPr>
          <p:cNvPr id="196" name="Google Shape;203;p6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97" name="Google Shape;204;p6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205;p6" descr=""/>
          <p:cNvPicPr/>
          <p:nvPr/>
        </p:nvPicPr>
        <p:blipFill>
          <a:blip r:embed="rId4"/>
          <a:stretch/>
        </p:blipFill>
        <p:spPr>
          <a:xfrm>
            <a:off x="1895400" y="1851840"/>
            <a:ext cx="8400600" cy="3403440"/>
          </a:xfrm>
          <a:prstGeom prst="rect">
            <a:avLst/>
          </a:prstGeom>
          <a:ln w="12700">
            <a:solidFill>
              <a:srgbClr val="16294d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211;p7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200" name="Google Shape;212;p7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3. CONCEPTION TECHNIQUE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201" name="Google Shape;213;p7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Google Shape;214;p7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Google Shape;215;p7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04" name="Google Shape;216;p7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Google Shape;217;p7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États &amp; Transitions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06" name="Google Shape;218;p7"/>
          <p:cNvSpPr/>
          <p:nvPr/>
        </p:nvSpPr>
        <p:spPr>
          <a:xfrm>
            <a:off x="774180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Google Shape;219;p7"/>
          <p:cNvSpPr/>
          <p:nvPr/>
        </p:nvSpPr>
        <p:spPr>
          <a:xfrm>
            <a:off x="774180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Activité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08" name="Google Shape;220;p7"/>
          <p:cNvSpPr/>
          <p:nvPr/>
        </p:nvSpPr>
        <p:spPr>
          <a:xfrm>
            <a:off x="502920" y="2880360"/>
            <a:ext cx="1371240" cy="822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Google Shape;221;p7"/>
          <p:cNvSpPr/>
          <p:nvPr/>
        </p:nvSpPr>
        <p:spPr>
          <a:xfrm>
            <a:off x="502920" y="28803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22b3a"/>
                </a:solidFill>
                <a:latin typeface="Calibri"/>
                <a:ea typeface="Calibri"/>
              </a:rPr>
              <a:t>Utilisateur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10" name="Google Shape;222;p7"/>
          <p:cNvSpPr/>
          <p:nvPr/>
        </p:nvSpPr>
        <p:spPr>
          <a:xfrm>
            <a:off x="2468880" y="2331720"/>
            <a:ext cx="6674760" cy="20570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Google Shape;223;p7"/>
          <p:cNvSpPr/>
          <p:nvPr/>
        </p:nvSpPr>
        <p:spPr>
          <a:xfrm>
            <a:off x="2606040" y="4023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Docker Compose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12" name="Google Shape;224;p7"/>
          <p:cNvSpPr/>
          <p:nvPr/>
        </p:nvSpPr>
        <p:spPr>
          <a:xfrm>
            <a:off x="2880360" y="2743200"/>
            <a:ext cx="23770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Google Shape;225;p7"/>
          <p:cNvSpPr/>
          <p:nvPr/>
        </p:nvSpPr>
        <p:spPr>
          <a:xfrm>
            <a:off x="2880360" y="2743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22b3a"/>
                </a:solidFill>
                <a:latin typeface="Calibri"/>
                <a:ea typeface="Calibri"/>
              </a:rPr>
              <a:t>Frontend</a:t>
            </a:r>
            <a:br>
              <a:rPr sz="1200"/>
            </a:b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React + Vite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Port 4000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14" name="Google Shape;226;p7"/>
          <p:cNvSpPr/>
          <p:nvPr/>
        </p:nvSpPr>
        <p:spPr>
          <a:xfrm>
            <a:off x="6309360" y="2743200"/>
            <a:ext cx="23770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Google Shape;227;p7"/>
          <p:cNvSpPr/>
          <p:nvPr/>
        </p:nvSpPr>
        <p:spPr>
          <a:xfrm>
            <a:off x="6309360" y="2743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22b3a"/>
                </a:solidFill>
                <a:latin typeface="Calibri"/>
                <a:ea typeface="Calibri"/>
              </a:rPr>
              <a:t>Backend</a:t>
            </a:r>
            <a:br>
              <a:rPr sz="1200"/>
            </a:b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Flask API REST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Port 4001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16" name="Google Shape;228;p7"/>
          <p:cNvSpPr/>
          <p:nvPr/>
        </p:nvSpPr>
        <p:spPr>
          <a:xfrm>
            <a:off x="9646920" y="2788920"/>
            <a:ext cx="1737000" cy="114264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Google Shape;229;p7"/>
          <p:cNvSpPr/>
          <p:nvPr/>
        </p:nvSpPr>
        <p:spPr>
          <a:xfrm>
            <a:off x="9646920" y="2788920"/>
            <a:ext cx="1737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22b3a"/>
                </a:solidFill>
                <a:latin typeface="Calibri"/>
                <a:ea typeface="Calibri"/>
              </a:rPr>
              <a:t>Base de données</a:t>
            </a:r>
            <a:br>
              <a:rPr sz="1200"/>
            </a:b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SQLite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Volume Docker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18" name="Google Shape;230;p7"/>
          <p:cNvSpPr/>
          <p:nvPr/>
        </p:nvSpPr>
        <p:spPr>
          <a:xfrm>
            <a:off x="1874520" y="3291840"/>
            <a:ext cx="1005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16294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Google Shape;231;p7"/>
          <p:cNvSpPr/>
          <p:nvPr/>
        </p:nvSpPr>
        <p:spPr>
          <a:xfrm>
            <a:off x="1828800" y="2971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22b3a"/>
                </a:solidFill>
                <a:latin typeface="Calibri"/>
                <a:ea typeface="Calibri"/>
              </a:rPr>
              <a:t>HTTPS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20" name="Google Shape;232;p7"/>
          <p:cNvSpPr/>
          <p:nvPr/>
        </p:nvSpPr>
        <p:spPr>
          <a:xfrm>
            <a:off x="5257800" y="3337560"/>
            <a:ext cx="1051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16294d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Google Shape;233;p7"/>
          <p:cNvSpPr/>
          <p:nvPr/>
        </p:nvSpPr>
        <p:spPr>
          <a:xfrm>
            <a:off x="5120640" y="3429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e5fa3"/>
                </a:solidFill>
                <a:latin typeface="Calibri"/>
                <a:ea typeface="Calibri"/>
              </a:rPr>
              <a:t>HTTP + JWT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22" name="Google Shape;234;p7"/>
          <p:cNvSpPr/>
          <p:nvPr/>
        </p:nvSpPr>
        <p:spPr>
          <a:xfrm>
            <a:off x="8686800" y="3337560"/>
            <a:ext cx="959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16294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Google Shape;235;p7"/>
          <p:cNvSpPr/>
          <p:nvPr/>
        </p:nvSpPr>
        <p:spPr>
          <a:xfrm>
            <a:off x="8732520" y="3017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a5cb0"/>
                </a:solidFill>
                <a:latin typeface="Calibri"/>
                <a:ea typeface="Calibri"/>
              </a:rPr>
              <a:t>SQL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24" name="Google Shape;236;p7"/>
          <p:cNvSpPr/>
          <p:nvPr/>
        </p:nvSpPr>
        <p:spPr>
          <a:xfrm>
            <a:off x="4160520" y="4754880"/>
            <a:ext cx="3291480" cy="868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Google Shape;237;p7"/>
          <p:cNvSpPr/>
          <p:nvPr/>
        </p:nvSpPr>
        <p:spPr>
          <a:xfrm>
            <a:off x="4160520" y="475488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b3a"/>
                </a:solidFill>
                <a:latin typeface="Calibri"/>
                <a:ea typeface="Calibri"/>
              </a:rPr>
              <a:t>Nginx (reverse proxy)</a:t>
            </a:r>
            <a:br>
              <a:rPr sz="1100"/>
            </a:br>
            <a:r>
              <a:rPr b="0" lang="en-US" sz="1000" spc="-1" strike="noStrike">
                <a:solidFill>
                  <a:srgbClr val="222b3a"/>
                </a:solidFill>
                <a:latin typeface="Calibri"/>
                <a:ea typeface="Calibri"/>
              </a:rPr>
              <a:t>task.ag-technologies.tech</a:t>
            </a:r>
            <a:endParaRPr b="0" lang="fr-FR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22b3a"/>
                </a:solidFill>
                <a:latin typeface="Calibri"/>
                <a:ea typeface="Calibri"/>
              </a:rPr>
              <a:t>SSL / HTTPS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26" name="Google Shape;238;p7"/>
          <p:cNvSpPr/>
          <p:nvPr/>
        </p:nvSpPr>
        <p:spPr>
          <a:xfrm rot="10800000">
            <a:off x="4023720" y="3978000"/>
            <a:ext cx="548280" cy="77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Google Shape;239;p7"/>
          <p:cNvSpPr/>
          <p:nvPr/>
        </p:nvSpPr>
        <p:spPr>
          <a:xfrm flipH="1" rot="10800000">
            <a:off x="6949080" y="3978000"/>
            <a:ext cx="548280" cy="77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700">
            <a:solidFill>
              <a:srgbClr val="16294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228" name="Google Shape;240;p7" descr="image.png"/>
          <p:cNvPicPr/>
          <p:nvPr/>
        </p:nvPicPr>
        <p:blipFill>
          <a:blip r:embed="rId2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229" name="Google Shape;241;p7" descr=""/>
          <p:cNvPicPr/>
          <p:nvPr/>
        </p:nvPicPr>
        <p:blipFill>
          <a:blip r:embed="rId3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47;p8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231" name="Google Shape;248;p8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3. CONCEPTION TECHNIQUE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232" name="Google Shape;249;p8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Google Shape;250;p8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Google Shape;251;p8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Architecture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35" name="Google Shape;252;p8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Google Shape;253;p8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États &amp; Transitions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37" name="Google Shape;254;p8"/>
          <p:cNvSpPr/>
          <p:nvPr/>
        </p:nvSpPr>
        <p:spPr>
          <a:xfrm>
            <a:off x="3707640" y="18349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b7280"/>
                </a:solidFill>
                <a:latin typeface="Calibri"/>
                <a:ea typeface="Calibri"/>
              </a:rPr>
              <a:t>StatutCompte</a:t>
            </a:r>
            <a:endParaRPr b="0" lang="fr-FR" sz="1800" spc="-1" strike="noStrike">
              <a:latin typeface="Arial"/>
            </a:endParaRPr>
          </a:p>
        </p:txBody>
      </p:sp>
      <p:pic>
        <p:nvPicPr>
          <p:cNvPr id="238" name="Google Shape;255;p8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239" name="Google Shape;256;p8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240" name="Google Shape;257;p8" descr=""/>
          <p:cNvPicPr/>
          <p:nvPr/>
        </p:nvPicPr>
        <p:blipFill>
          <a:blip r:embed="rId4"/>
          <a:stretch/>
        </p:blipFill>
        <p:spPr>
          <a:xfrm>
            <a:off x="831240" y="2200680"/>
            <a:ext cx="10324080" cy="465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63;g3f62d2a6449_0_0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242" name="Google Shape;264;g3f62d2a6449_0_0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3. CONCEPTION TECHNIQUE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243" name="Google Shape;265;g3f62d2a6449_0_0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Google Shape;266;g3f62d2a6449_0_0"/>
          <p:cNvSpPr/>
          <p:nvPr/>
        </p:nvSpPr>
        <p:spPr>
          <a:xfrm>
            <a:off x="170676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b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Google Shape;267;g3f62d2a6449_0_0"/>
          <p:cNvSpPr/>
          <p:nvPr/>
        </p:nvSpPr>
        <p:spPr>
          <a:xfrm>
            <a:off x="170676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Architecture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6" name="Google Shape;268;g3f62d2a6449_0_0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Google Shape;269;g3f62d2a6449_0_0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États &amp; Transitions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48" name="Google Shape;270;g3f62d2a6449_0_0"/>
          <p:cNvSpPr/>
          <p:nvPr/>
        </p:nvSpPr>
        <p:spPr>
          <a:xfrm>
            <a:off x="2895480" y="19339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b7280"/>
                </a:solidFill>
                <a:latin typeface="Calibri"/>
                <a:ea typeface="Calibri"/>
              </a:rPr>
              <a:t>RoleGlobal</a:t>
            </a:r>
            <a:endParaRPr b="0" lang="fr-FR" sz="1800" spc="-1" strike="noStrike">
              <a:latin typeface="Arial"/>
            </a:endParaRPr>
          </a:p>
        </p:txBody>
      </p:sp>
      <p:pic>
        <p:nvPicPr>
          <p:cNvPr id="249" name="Google Shape;271;g3f62d2a6449_0_0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250" name="Google Shape;272;g3f62d2a6449_0_0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251" name="Google Shape;273;g3f62d2a6449_0_0" descr=""/>
          <p:cNvPicPr/>
          <p:nvPr/>
        </p:nvPicPr>
        <p:blipFill>
          <a:blip r:embed="rId4"/>
          <a:stretch/>
        </p:blipFill>
        <p:spPr>
          <a:xfrm>
            <a:off x="0" y="2670120"/>
            <a:ext cx="12191760" cy="418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79;p10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253" name="Google Shape;280;p10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4. IMPLÉMENTATION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254" name="Google Shape;281;p10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Google Shape;282;p10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Google Shape;283;p10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Technologies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57" name="Google Shape;284;p10"/>
          <p:cNvSpPr/>
          <p:nvPr/>
        </p:nvSpPr>
        <p:spPr>
          <a:xfrm>
            <a:off x="6089760" y="2286000"/>
            <a:ext cx="360" cy="3657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285;p10"/>
          <p:cNvSpPr/>
          <p:nvPr/>
        </p:nvSpPr>
        <p:spPr>
          <a:xfrm>
            <a:off x="1097280" y="4114800"/>
            <a:ext cx="99939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286;p10"/>
          <p:cNvSpPr/>
          <p:nvPr/>
        </p:nvSpPr>
        <p:spPr>
          <a:xfrm>
            <a:off x="640080" y="246888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f4e79"/>
                </a:solidFill>
                <a:latin typeface="Calibri"/>
                <a:ea typeface="Calibri"/>
              </a:rPr>
              <a:t>Frontend (Client)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60" name="Google Shape;287;p10"/>
          <p:cNvSpPr/>
          <p:nvPr/>
        </p:nvSpPr>
        <p:spPr>
          <a:xfrm>
            <a:off x="640080" y="29260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React + Vite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61" name="Google Shape;288;p10"/>
          <p:cNvSpPr/>
          <p:nvPr/>
        </p:nvSpPr>
        <p:spPr>
          <a:xfrm>
            <a:off x="640080" y="34290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289;p10"/>
          <p:cNvSpPr/>
          <p:nvPr/>
        </p:nvSpPr>
        <p:spPr>
          <a:xfrm>
            <a:off x="6492240" y="246888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f4e79"/>
                </a:solidFill>
                <a:latin typeface="Calibri"/>
                <a:ea typeface="Calibri"/>
              </a:rPr>
              <a:t>Backend (API)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63" name="Google Shape;290;p10"/>
          <p:cNvSpPr/>
          <p:nvPr/>
        </p:nvSpPr>
        <p:spPr>
          <a:xfrm>
            <a:off x="6492240" y="29260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Python + Flask API REST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64" name="Google Shape;291;p10"/>
          <p:cNvSpPr/>
          <p:nvPr/>
        </p:nvSpPr>
        <p:spPr>
          <a:xfrm>
            <a:off x="6492240" y="34290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292;p10"/>
          <p:cNvSpPr/>
          <p:nvPr/>
        </p:nvSpPr>
        <p:spPr>
          <a:xfrm>
            <a:off x="640080" y="448056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f4e79"/>
                </a:solidFill>
                <a:latin typeface="Calibri"/>
                <a:ea typeface="Calibri"/>
              </a:rPr>
              <a:t>Persistance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66" name="Google Shape;293;p10"/>
          <p:cNvSpPr/>
          <p:nvPr/>
        </p:nvSpPr>
        <p:spPr>
          <a:xfrm>
            <a:off x="640080" y="49377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SQLite + Volumes Docker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67" name="Google Shape;294;p10"/>
          <p:cNvSpPr/>
          <p:nvPr/>
        </p:nvSpPr>
        <p:spPr>
          <a:xfrm>
            <a:off x="640080" y="5440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Base de données relationnelle légère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68" name="Google Shape;295;p10"/>
          <p:cNvSpPr/>
          <p:nvPr/>
        </p:nvSpPr>
        <p:spPr>
          <a:xfrm>
            <a:off x="6492240" y="448056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f4e79"/>
                </a:solidFill>
                <a:latin typeface="Calibri"/>
                <a:ea typeface="Calibri"/>
              </a:rPr>
              <a:t>Déploiement &amp; DevOps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69" name="Google Shape;296;p10"/>
          <p:cNvSpPr/>
          <p:nvPr/>
        </p:nvSpPr>
        <p:spPr>
          <a:xfrm>
            <a:off x="6492240" y="49377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Docker Compose + Nginx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70" name="Google Shape;297;p10"/>
          <p:cNvSpPr/>
          <p:nvPr/>
        </p:nvSpPr>
        <p:spPr>
          <a:xfrm>
            <a:off x="6492240" y="5440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SSL/HTTPS, VPS Hostinger</a:t>
            </a:r>
            <a:endParaRPr b="0" lang="fr-FR" sz="1400" spc="-1" strike="noStrike">
              <a:latin typeface="Arial"/>
            </a:endParaRPr>
          </a:p>
        </p:txBody>
      </p:sp>
      <p:pic>
        <p:nvPicPr>
          <p:cNvPr id="271" name="Google Shape;298;p10" descr=""/>
          <p:cNvPicPr/>
          <p:nvPr/>
        </p:nvPicPr>
        <p:blipFill>
          <a:blip r:embed="rId2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272" name="Google Shape;299;p10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305;p11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274" name="Google Shape;306;p11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5. PROTOTYPE &amp; DÉMONSTRATION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275" name="Google Shape;307;p11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Google Shape;308;p11"/>
          <p:cNvSpPr/>
          <p:nvPr/>
        </p:nvSpPr>
        <p:spPr>
          <a:xfrm>
            <a:off x="4724280" y="1234440"/>
            <a:ext cx="2742840" cy="475200"/>
          </a:xfrm>
          <a:prstGeom prst="roundRect">
            <a:avLst>
              <a:gd name="adj" fmla="val 50000"/>
            </a:avLst>
          </a:prstGeom>
          <a:solidFill>
            <a:srgbClr val="16294d"/>
          </a:solidFill>
          <a:ln w="15875">
            <a:solidFill>
              <a:srgbClr val="1629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Google Shape;309;p11"/>
          <p:cNvSpPr/>
          <p:nvPr/>
        </p:nvSpPr>
        <p:spPr>
          <a:xfrm>
            <a:off x="4724280" y="1234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demo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78" name="Google Shape;310;p11"/>
          <p:cNvSpPr/>
          <p:nvPr/>
        </p:nvSpPr>
        <p:spPr>
          <a:xfrm>
            <a:off x="928080" y="20300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22b3a"/>
                </a:solidFill>
                <a:latin typeface="Calibri"/>
                <a:ea typeface="Calibri"/>
              </a:rPr>
              <a:t>Plateforme en ligne : </a:t>
            </a:r>
            <a:r>
              <a:rPr b="1" lang="en-US" sz="2200" spc="-1" strike="noStrike">
                <a:solidFill>
                  <a:srgbClr val="16294d"/>
                </a:solidFill>
                <a:latin typeface="Calibri"/>
                <a:ea typeface="Calibri"/>
              </a:rPr>
              <a:t>https://task.ag-technologies.tech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279" name="Google Shape;311;p11"/>
          <p:cNvSpPr/>
          <p:nvPr/>
        </p:nvSpPr>
        <p:spPr>
          <a:xfrm rot="5400000">
            <a:off x="5761080" y="3840480"/>
            <a:ext cx="685440" cy="822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0" name="Google Shape;312;p11" descr="image.png"/>
          <p:cNvPicPr/>
          <p:nvPr/>
        </p:nvPicPr>
        <p:blipFill>
          <a:blip r:embed="rId2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281" name="Google Shape;313;p11" descr=""/>
          <p:cNvPicPr/>
          <p:nvPr/>
        </p:nvPicPr>
        <p:blipFill>
          <a:blip r:embed="rId3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282" name="Google Shape;314;p11" descr=""/>
          <p:cNvPicPr/>
          <p:nvPr/>
        </p:nvPicPr>
        <p:blipFill>
          <a:blip r:embed="rId4"/>
          <a:stretch/>
        </p:blipFill>
        <p:spPr>
          <a:xfrm>
            <a:off x="0" y="2697480"/>
            <a:ext cx="12191760" cy="416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320;g3f6108bb321_1_0"/>
          <p:cNvSpPr/>
          <p:nvPr/>
        </p:nvSpPr>
        <p:spPr>
          <a:xfrm>
            <a:off x="0" y="0"/>
            <a:ext cx="1216116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Google Shape;321;g3f6108bb321_1_0"/>
          <p:cNvSpPr/>
          <p:nvPr/>
        </p:nvSpPr>
        <p:spPr>
          <a:xfrm>
            <a:off x="1325880" y="128160"/>
            <a:ext cx="9052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6. VALIDATION ET TESTS</a:t>
            </a:r>
            <a:endParaRPr b="0" lang="fr-FR" sz="3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200" spc="-1" strike="noStrike">
              <a:latin typeface="Arial"/>
            </a:endParaRPr>
          </a:p>
        </p:txBody>
      </p:sp>
      <p:sp>
        <p:nvSpPr>
          <p:cNvPr id="285" name="Google Shape;322;g3f6108bb321_1_0"/>
          <p:cNvSpPr/>
          <p:nvPr/>
        </p:nvSpPr>
        <p:spPr>
          <a:xfrm>
            <a:off x="1280160" y="511920"/>
            <a:ext cx="3200040" cy="45360"/>
          </a:xfrm>
          <a:prstGeom prst="rect">
            <a:avLst/>
          </a:prstGeom>
          <a:solidFill>
            <a:schemeClr val="dk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Google Shape;323;g3f6108bb321_1_0"/>
          <p:cNvSpPr/>
          <p:nvPr/>
        </p:nvSpPr>
        <p:spPr>
          <a:xfrm>
            <a:off x="7498080" y="511920"/>
            <a:ext cx="3382920" cy="45360"/>
          </a:xfrm>
          <a:prstGeom prst="rect">
            <a:avLst/>
          </a:prstGeom>
          <a:solidFill>
            <a:schemeClr val="dk1"/>
          </a:solidFill>
          <a:ln w="12700">
            <a:solidFill>
              <a:srgbClr val="c027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Google Shape;324;g3f6108bb321_1_0"/>
          <p:cNvSpPr/>
          <p:nvPr/>
        </p:nvSpPr>
        <p:spPr>
          <a:xfrm>
            <a:off x="896040" y="1216080"/>
            <a:ext cx="1416960" cy="438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Google Shape;325;g3f6108bb321_1_0"/>
          <p:cNvSpPr/>
          <p:nvPr/>
        </p:nvSpPr>
        <p:spPr>
          <a:xfrm>
            <a:off x="896040" y="1216080"/>
            <a:ext cx="1416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Google Shape;326;g3f6108bb321_1_0"/>
          <p:cNvSpPr/>
          <p:nvPr/>
        </p:nvSpPr>
        <p:spPr>
          <a:xfrm>
            <a:off x="2313360" y="1216080"/>
            <a:ext cx="3702960" cy="438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Google Shape;327;g3f6108bb321_1_0"/>
          <p:cNvSpPr/>
          <p:nvPr/>
        </p:nvSpPr>
        <p:spPr>
          <a:xfrm>
            <a:off x="2313360" y="1216080"/>
            <a:ext cx="3702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Composant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91" name="Google Shape;328;g3f6108bb321_1_0"/>
          <p:cNvSpPr/>
          <p:nvPr/>
        </p:nvSpPr>
        <p:spPr>
          <a:xfrm>
            <a:off x="6016680" y="1216080"/>
            <a:ext cx="3108600" cy="438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Google Shape;329;g3f6108bb321_1_0"/>
          <p:cNvSpPr/>
          <p:nvPr/>
        </p:nvSpPr>
        <p:spPr>
          <a:xfrm>
            <a:off x="6016680" y="121608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Méthode de test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93" name="Google Shape;330;g3f6108bb321_1_0"/>
          <p:cNvSpPr/>
          <p:nvPr/>
        </p:nvSpPr>
        <p:spPr>
          <a:xfrm>
            <a:off x="9125640" y="1216080"/>
            <a:ext cx="1645560" cy="438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Google Shape;331;g3f6108bb321_1_0"/>
          <p:cNvSpPr/>
          <p:nvPr/>
        </p:nvSpPr>
        <p:spPr>
          <a:xfrm>
            <a:off x="9125640" y="121608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Statut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95" name="Google Shape;332;g3f6108bb321_1_0"/>
          <p:cNvSpPr/>
          <p:nvPr/>
        </p:nvSpPr>
        <p:spPr>
          <a:xfrm>
            <a:off x="896040" y="1654920"/>
            <a:ext cx="9875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Google Shape;333;g3f6108bb321_1_0"/>
          <p:cNvSpPr/>
          <p:nvPr/>
        </p:nvSpPr>
        <p:spPr>
          <a:xfrm>
            <a:off x="969120" y="165492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BF-01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297" name="Google Shape;334;g3f6108bb321_1_0"/>
          <p:cNvSpPr/>
          <p:nvPr/>
        </p:nvSpPr>
        <p:spPr>
          <a:xfrm>
            <a:off x="2386440" y="165492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Page de connexion (frontend)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98" name="Google Shape;335;g3f6108bb321_1_0"/>
          <p:cNvSpPr/>
          <p:nvPr/>
        </p:nvSpPr>
        <p:spPr>
          <a:xfrm>
            <a:off x="6089760" y="165492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Navigation navigateur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299" name="Google Shape;336;g3f6108bb321_1_0"/>
          <p:cNvSpPr/>
          <p:nvPr/>
        </p:nvSpPr>
        <p:spPr>
          <a:xfrm>
            <a:off x="9290160" y="171900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Google Shape;337;g3f6108bb321_1_0"/>
          <p:cNvSpPr/>
          <p:nvPr/>
        </p:nvSpPr>
        <p:spPr>
          <a:xfrm>
            <a:off x="9290160" y="171900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01" name="Google Shape;338;g3f6108bb321_1_0"/>
          <p:cNvSpPr/>
          <p:nvPr/>
        </p:nvSpPr>
        <p:spPr>
          <a:xfrm>
            <a:off x="896040" y="2084760"/>
            <a:ext cx="9875160" cy="42948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Google Shape;339;g3f6108bb321_1_0"/>
          <p:cNvSpPr/>
          <p:nvPr/>
        </p:nvSpPr>
        <p:spPr>
          <a:xfrm>
            <a:off x="969120" y="208476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BF-02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03" name="Google Shape;340;g3f6108bb321_1_0"/>
          <p:cNvSpPr/>
          <p:nvPr/>
        </p:nvSpPr>
        <p:spPr>
          <a:xfrm>
            <a:off x="2386440" y="208476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Demande de compte (cachou)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04" name="Google Shape;341;g3f6108bb321_1_0"/>
          <p:cNvSpPr/>
          <p:nvPr/>
        </p:nvSpPr>
        <p:spPr>
          <a:xfrm>
            <a:off x="6089760" y="208476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Soumission formulaire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05" name="Google Shape;342;g3f6108bb321_1_0"/>
          <p:cNvSpPr/>
          <p:nvPr/>
        </p:nvSpPr>
        <p:spPr>
          <a:xfrm>
            <a:off x="9290160" y="214884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Google Shape;343;g3f6108bb321_1_0"/>
          <p:cNvSpPr/>
          <p:nvPr/>
        </p:nvSpPr>
        <p:spPr>
          <a:xfrm>
            <a:off x="9290160" y="214884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07" name="Google Shape;344;g3f6108bb321_1_0"/>
          <p:cNvSpPr/>
          <p:nvPr/>
        </p:nvSpPr>
        <p:spPr>
          <a:xfrm>
            <a:off x="896040" y="2514600"/>
            <a:ext cx="9875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Google Shape;345;g3f6108bb321_1_0"/>
          <p:cNvSpPr/>
          <p:nvPr/>
        </p:nvSpPr>
        <p:spPr>
          <a:xfrm>
            <a:off x="969120" y="251460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BF-03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09" name="Google Shape;346;g3f6108bb321_1_0"/>
          <p:cNvSpPr/>
          <p:nvPr/>
        </p:nvSpPr>
        <p:spPr>
          <a:xfrm>
            <a:off x="2386440" y="251460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Notification SuperAdmin (cloche)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10" name="Google Shape;347;g3f6108bb321_1_0"/>
          <p:cNvSpPr/>
          <p:nvPr/>
        </p:nvSpPr>
        <p:spPr>
          <a:xfrm>
            <a:off x="6089760" y="251460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Réception + panneau notifs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11" name="Google Shape;348;g3f6108bb321_1_0"/>
          <p:cNvSpPr/>
          <p:nvPr/>
        </p:nvSpPr>
        <p:spPr>
          <a:xfrm>
            <a:off x="9290160" y="257868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Google Shape;349;g3f6108bb321_1_0"/>
          <p:cNvSpPr/>
          <p:nvPr/>
        </p:nvSpPr>
        <p:spPr>
          <a:xfrm>
            <a:off x="9290160" y="25786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13" name="Google Shape;350;g3f6108bb321_1_0"/>
          <p:cNvSpPr/>
          <p:nvPr/>
        </p:nvSpPr>
        <p:spPr>
          <a:xfrm>
            <a:off x="896040" y="2944440"/>
            <a:ext cx="9875160" cy="42948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Google Shape;351;g3f6108bb321_1_0"/>
          <p:cNvSpPr/>
          <p:nvPr/>
        </p:nvSpPr>
        <p:spPr>
          <a:xfrm>
            <a:off x="969120" y="294444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BF-04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15" name="Google Shape;352;g3f6108bb321_1_0"/>
          <p:cNvSpPr/>
          <p:nvPr/>
        </p:nvSpPr>
        <p:spPr>
          <a:xfrm>
            <a:off x="2386440" y="294444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Validation de compte membre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16" name="Google Shape;353;g3f6108bb321_1_0"/>
          <p:cNvSpPr/>
          <p:nvPr/>
        </p:nvSpPr>
        <p:spPr>
          <a:xfrm>
            <a:off x="6089760" y="294444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Bouton Valider (SuperAdmin)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17" name="Google Shape;354;g3f6108bb321_1_0"/>
          <p:cNvSpPr/>
          <p:nvPr/>
        </p:nvSpPr>
        <p:spPr>
          <a:xfrm>
            <a:off x="9290160" y="300852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Google Shape;355;g3f6108bb321_1_0"/>
          <p:cNvSpPr/>
          <p:nvPr/>
        </p:nvSpPr>
        <p:spPr>
          <a:xfrm>
            <a:off x="9290160" y="300852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19" name="Google Shape;356;g3f6108bb321_1_0"/>
          <p:cNvSpPr/>
          <p:nvPr/>
        </p:nvSpPr>
        <p:spPr>
          <a:xfrm>
            <a:off x="896040" y="3374280"/>
            <a:ext cx="9875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Google Shape;357;g3f6108bb321_1_0"/>
          <p:cNvSpPr/>
          <p:nvPr/>
        </p:nvSpPr>
        <p:spPr>
          <a:xfrm>
            <a:off x="969120" y="337428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BF-05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21" name="Google Shape;358;g3f6108bb321_1_0"/>
          <p:cNvSpPr/>
          <p:nvPr/>
        </p:nvSpPr>
        <p:spPr>
          <a:xfrm>
            <a:off x="2386440" y="337428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Dashboard SuperAdmin 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22" name="Google Shape;359;g3f6108bb321_1_0"/>
          <p:cNvSpPr/>
          <p:nvPr/>
        </p:nvSpPr>
        <p:spPr>
          <a:xfrm>
            <a:off x="6089760" y="337428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Tests multi-rôles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23" name="Google Shape;360;g3f6108bb321_1_0"/>
          <p:cNvSpPr/>
          <p:nvPr/>
        </p:nvSpPr>
        <p:spPr>
          <a:xfrm>
            <a:off x="9290160" y="343800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Google Shape;361;g3f6108bb321_1_0"/>
          <p:cNvSpPr/>
          <p:nvPr/>
        </p:nvSpPr>
        <p:spPr>
          <a:xfrm>
            <a:off x="9290160" y="343800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25" name="Google Shape;362;g3f6108bb321_1_0"/>
          <p:cNvSpPr/>
          <p:nvPr/>
        </p:nvSpPr>
        <p:spPr>
          <a:xfrm>
            <a:off x="896040" y="3803760"/>
            <a:ext cx="9875160" cy="42948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Google Shape;363;g3f6108bb321_1_0"/>
          <p:cNvSpPr/>
          <p:nvPr/>
        </p:nvSpPr>
        <p:spPr>
          <a:xfrm>
            <a:off x="969120" y="380376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BF-06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27" name="Google Shape;364;g3f6108bb321_1_0"/>
          <p:cNvSpPr/>
          <p:nvPr/>
        </p:nvSpPr>
        <p:spPr>
          <a:xfrm>
            <a:off x="2386440" y="380376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Dashboard Admin 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28" name="Google Shape;365;g3f6108bb321_1_0"/>
          <p:cNvSpPr/>
          <p:nvPr/>
        </p:nvSpPr>
        <p:spPr>
          <a:xfrm>
            <a:off x="6089760" y="380376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Vérif. données affichées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29" name="Google Shape;366;g3f6108bb321_1_0"/>
          <p:cNvSpPr/>
          <p:nvPr/>
        </p:nvSpPr>
        <p:spPr>
          <a:xfrm>
            <a:off x="9290160" y="386784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Google Shape;367;g3f6108bb321_1_0"/>
          <p:cNvSpPr/>
          <p:nvPr/>
        </p:nvSpPr>
        <p:spPr>
          <a:xfrm>
            <a:off x="9290160" y="386784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31" name="Google Shape;368;g3f6108bb321_1_0"/>
          <p:cNvSpPr/>
          <p:nvPr/>
        </p:nvSpPr>
        <p:spPr>
          <a:xfrm>
            <a:off x="896040" y="4233600"/>
            <a:ext cx="9875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Google Shape;369;g3f6108bb321_1_0"/>
          <p:cNvSpPr/>
          <p:nvPr/>
        </p:nvSpPr>
        <p:spPr>
          <a:xfrm>
            <a:off x="969120" y="4233600"/>
            <a:ext cx="1325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2a5e"/>
                </a:solidFill>
                <a:latin typeface="Calibri"/>
                <a:ea typeface="Calibri"/>
              </a:rPr>
              <a:t>BF-07</a:t>
            </a:r>
            <a:endParaRPr b="0" lang="fr-FR" sz="950" spc="-1" strike="noStrike">
              <a:latin typeface="Arial"/>
            </a:endParaRPr>
          </a:p>
        </p:txBody>
      </p:sp>
      <p:sp>
        <p:nvSpPr>
          <p:cNvPr id="333" name="Google Shape;370;g3f6108bb321_1_0"/>
          <p:cNvSpPr/>
          <p:nvPr/>
        </p:nvSpPr>
        <p:spPr>
          <a:xfrm>
            <a:off x="2386440" y="4233600"/>
            <a:ext cx="35931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Dashboard Membre — tâches personelles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34" name="Google Shape;371;g3f6108bb321_1_0"/>
          <p:cNvSpPr/>
          <p:nvPr/>
        </p:nvSpPr>
        <p:spPr>
          <a:xfrm>
            <a:off x="6089760" y="4233600"/>
            <a:ext cx="29988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Filtrage par membre connecté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335" name="Google Shape;372;g3f6108bb321_1_0"/>
          <p:cNvSpPr/>
          <p:nvPr/>
        </p:nvSpPr>
        <p:spPr>
          <a:xfrm>
            <a:off x="9290160" y="4297680"/>
            <a:ext cx="1279800" cy="301320"/>
          </a:xfrm>
          <a:prstGeom prst="roundRect">
            <a:avLst>
              <a:gd name="adj" fmla="val 18182"/>
            </a:avLst>
          </a:prstGeom>
          <a:solidFill>
            <a:srgbClr val="d5f5e3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Google Shape;373;g3f6108bb321_1_0"/>
          <p:cNvSpPr/>
          <p:nvPr/>
        </p:nvSpPr>
        <p:spPr>
          <a:xfrm>
            <a:off x="9290160" y="42976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  ✓  </a:t>
            </a:r>
            <a:r>
              <a:rPr b="1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OK</a:t>
            </a:r>
            <a:endParaRPr b="0" lang="fr-FR" sz="950" spc="-1" strike="noStrike">
              <a:latin typeface="Arial"/>
            </a:endParaRPr>
          </a:p>
        </p:txBody>
      </p:sp>
      <p:pic>
        <p:nvPicPr>
          <p:cNvPr id="337" name="Google Shape;374;g3f6108bb321_1_0" descr=""/>
          <p:cNvPicPr/>
          <p:nvPr/>
        </p:nvPicPr>
        <p:blipFill>
          <a:blip r:embed="rId1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338" name="Google Shape;375;g3f6108bb321_1_0" descr="image.png"/>
          <p:cNvPicPr/>
          <p:nvPr/>
        </p:nvPicPr>
        <p:blipFill>
          <a:blip r:embed="rId2"/>
          <a:stretch/>
        </p:blipFill>
        <p:spPr>
          <a:xfrm>
            <a:off x="11091600" y="27360"/>
            <a:ext cx="868320" cy="822600"/>
          </a:xfrm>
          <a:prstGeom prst="rect">
            <a:avLst/>
          </a:prstGeom>
          <a:ln w="0">
            <a:noFill/>
          </a:ln>
        </p:spPr>
      </p:pic>
      <p:sp>
        <p:nvSpPr>
          <p:cNvPr id="339" name="Google Shape;376;g3f6108bb321_1_0"/>
          <p:cNvSpPr/>
          <p:nvPr/>
        </p:nvSpPr>
        <p:spPr>
          <a:xfrm>
            <a:off x="2295000" y="5229360"/>
            <a:ext cx="3593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82;p13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7. PERSPECTIVES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41" name="Google Shape;383;p13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Google Shape;384;p13"/>
          <p:cNvSpPr/>
          <p:nvPr/>
        </p:nvSpPr>
        <p:spPr>
          <a:xfrm>
            <a:off x="409320" y="2468880"/>
            <a:ext cx="3237120" cy="293112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50" spc="-1" strike="noStrike">
                <a:solidFill>
                  <a:srgbClr val="5b9bd5"/>
                </a:solidFill>
                <a:latin typeface="Calibri"/>
                <a:ea typeface="Calibri"/>
              </a:rPr>
              <a:t>Gestion des rôles</a:t>
            </a:r>
            <a:endParaRPr b="0" lang="fr-FR" sz="24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50" spc="-1" strike="noStrike">
                <a:solidFill>
                  <a:srgbClr val="5b9bd5"/>
                </a:solidFill>
                <a:latin typeface="Calibri"/>
                <a:ea typeface="Calibri"/>
              </a:rPr>
              <a:t>in-app:</a:t>
            </a:r>
            <a:endParaRPr b="0" lang="fr-FR" sz="24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2700"/>
            </a:br>
            <a:r>
              <a:rPr b="0" lang="en-US" sz="225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</a:rPr>
              <a:t>Créer et attribuer</a:t>
            </a:r>
            <a:endParaRPr b="0" lang="fr-FR" sz="2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</a:rPr>
              <a:t>les permissions</a:t>
            </a:r>
            <a:endParaRPr b="0" lang="fr-FR" sz="2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</a:rPr>
              <a:t>directement en UI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343" name="Google Shape;385;p13"/>
          <p:cNvSpPr/>
          <p:nvPr/>
        </p:nvSpPr>
        <p:spPr>
          <a:xfrm>
            <a:off x="3646440" y="2468880"/>
            <a:ext cx="2833560" cy="293112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4472c4"/>
                </a:solidFill>
                <a:latin typeface="Calibri"/>
                <a:ea typeface="Calibri"/>
              </a:rPr>
              <a:t>Correction bug</a:t>
            </a:r>
            <a:endParaRPr b="0" lang="fr-FR" sz="2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4472c4"/>
                </a:solidFill>
                <a:latin typeface="Calibri"/>
                <a:ea typeface="Calibri"/>
              </a:rPr>
              <a:t>"Non autorisé":</a:t>
            </a:r>
            <a:endParaRPr b="0" lang="fr-FR" sz="2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2600"/>
            </a:br>
            <a:r>
              <a:rPr b="0" lang="en-US" sz="2150" spc="-1" strike="noStrike">
                <a:solidFill>
                  <a:srgbClr val="000000"/>
                </a:solidFill>
                <a:latin typeface="Calibri"/>
                <a:ea typeface="Calibri"/>
              </a:rPr>
              <a:t>Redirection login</a:t>
            </a: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50" spc="-1" strike="noStrike">
                <a:solidFill>
                  <a:srgbClr val="000000"/>
                </a:solidFill>
                <a:latin typeface="Calibri"/>
                <a:ea typeface="Calibri"/>
              </a:rPr>
              <a:t>Gestion JWT expirée</a:t>
            </a: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50" spc="-1" strike="noStrike">
                <a:solidFill>
                  <a:srgbClr val="000000"/>
                </a:solidFill>
                <a:latin typeface="Calibri"/>
                <a:ea typeface="Calibri"/>
              </a:rPr>
              <a:t>en productio</a:t>
            </a:r>
            <a:r>
              <a:rPr b="0" lang="en-US" sz="2150" spc="-1" strike="noStrike">
                <a:solidFill>
                  <a:srgbClr val="c7d2fe"/>
                </a:solidFill>
                <a:latin typeface="Calibri"/>
                <a:ea typeface="Calibri"/>
              </a:rPr>
              <a:t>n</a:t>
            </a:r>
            <a:endParaRPr b="0" lang="fr-FR" sz="2150" spc="-1" strike="noStrike">
              <a:latin typeface="Arial"/>
            </a:endParaRPr>
          </a:p>
        </p:txBody>
      </p:sp>
      <p:sp>
        <p:nvSpPr>
          <p:cNvPr id="344" name="Google Shape;386;p13"/>
          <p:cNvSpPr/>
          <p:nvPr/>
        </p:nvSpPr>
        <p:spPr>
          <a:xfrm>
            <a:off x="6499800" y="2468880"/>
            <a:ext cx="2680200" cy="293112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50" spc="-1" strike="noStrike">
                <a:solidFill>
                  <a:srgbClr val="4472c4"/>
                </a:solidFill>
                <a:latin typeface="Calibri"/>
                <a:ea typeface="Calibri"/>
              </a:rPr>
              <a:t>Interface</a:t>
            </a: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50" spc="-1" strike="noStrike">
                <a:solidFill>
                  <a:srgbClr val="4472c4"/>
                </a:solidFill>
                <a:latin typeface="Calibri"/>
                <a:ea typeface="Calibri"/>
              </a:rPr>
              <a:t>Responsive:</a:t>
            </a: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000000"/>
                </a:solidFill>
                <a:latin typeface="Calibri"/>
                <a:ea typeface="Calibri"/>
              </a:rPr>
              <a:t>Adaptation mobile</a:t>
            </a:r>
            <a:endParaRPr b="0" lang="fr-FR" sz="1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000000"/>
                </a:solidFill>
                <a:latin typeface="Calibri"/>
                <a:ea typeface="Calibri"/>
              </a:rPr>
              <a:t>et tablette</a:t>
            </a:r>
            <a:endParaRPr b="0" lang="fr-FR" sz="1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000000"/>
                </a:solidFill>
                <a:latin typeface="Calibri"/>
                <a:ea typeface="Calibri"/>
              </a:rPr>
              <a:t>(Tâches, PERT, Gantt)</a:t>
            </a:r>
            <a:endParaRPr b="0" lang="fr-FR" sz="1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345" name="Google Shape;387;p13"/>
          <p:cNvSpPr/>
          <p:nvPr/>
        </p:nvSpPr>
        <p:spPr>
          <a:xfrm>
            <a:off x="9245880" y="2468880"/>
            <a:ext cx="2946240" cy="2931120"/>
          </a:xfrm>
          <a:prstGeom prst="rect">
            <a:avLst/>
          </a:prstGeom>
          <a:noFill/>
          <a:ln w="1905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4472c4"/>
                </a:solidFill>
                <a:highlight>
                  <a:srgbClr val="ffffff"/>
                </a:highlight>
                <a:latin typeface="Calibri"/>
                <a:ea typeface="Calibri"/>
              </a:rPr>
              <a:t>Export Base de données:</a:t>
            </a:r>
            <a:endParaRPr b="0" lang="fr-FR" sz="2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50" spc="-1" strike="noStrike">
                <a:solidFill>
                  <a:srgbClr val="000000"/>
                </a:solidFill>
                <a:latin typeface="Calibri"/>
                <a:ea typeface="Calibri"/>
              </a:rPr>
              <a:t>Retour visuel succès</a:t>
            </a:r>
            <a:endParaRPr b="0" lang="fr-FR" sz="2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50" spc="-1" strike="noStrike">
                <a:solidFill>
                  <a:srgbClr val="000000"/>
                </a:solidFill>
                <a:latin typeface="Calibri"/>
                <a:ea typeface="Calibri"/>
              </a:rPr>
              <a:t>ou échec d'export</a:t>
            </a:r>
            <a:endParaRPr b="0" lang="fr-FR" sz="2150" spc="-1" strike="noStrike">
              <a:latin typeface="Arial"/>
            </a:endParaRPr>
          </a:p>
        </p:txBody>
      </p:sp>
      <p:pic>
        <p:nvPicPr>
          <p:cNvPr id="346" name="Google Shape;388;p13" descr=""/>
          <p:cNvPicPr/>
          <p:nvPr/>
        </p:nvPicPr>
        <p:blipFill>
          <a:blip r:embed="rId1"/>
          <a:stretch/>
        </p:blipFill>
        <p:spPr>
          <a:xfrm>
            <a:off x="0" y="-2412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347" name="Google Shape;389;p13" descr="image.png"/>
          <p:cNvPicPr/>
          <p:nvPr/>
        </p:nvPicPr>
        <p:blipFill>
          <a:blip r:embed="rId2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95;p14" descr="/tmp/build/assets/logo_enspy.png"/>
          <p:cNvPicPr/>
          <p:nvPr/>
        </p:nvPicPr>
        <p:blipFill>
          <a:blip r:embed="rId1"/>
          <a:stretch/>
        </p:blipFill>
        <p:spPr>
          <a:xfrm>
            <a:off x="320040" y="25596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349" name="Google Shape;396;p14"/>
          <p:cNvSpPr/>
          <p:nvPr/>
        </p:nvSpPr>
        <p:spPr>
          <a:xfrm>
            <a:off x="1828800" y="274320"/>
            <a:ext cx="85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94d"/>
                </a:solidFill>
                <a:latin typeface="Calibri"/>
                <a:ea typeface="Calibri"/>
              </a:rPr>
              <a:t>CONCLUSION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50" name="Google Shape;397;p14"/>
          <p:cNvSpPr/>
          <p:nvPr/>
        </p:nvSpPr>
        <p:spPr>
          <a:xfrm>
            <a:off x="1280160" y="969120"/>
            <a:ext cx="9628200" cy="40680"/>
          </a:xfrm>
          <a:prstGeom prst="rect">
            <a:avLst/>
          </a:prstGeom>
          <a:solidFill>
            <a:srgbClr val="1629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1" name="Google Shape;398;p14" descr="/tmp/build/assets/ic_lockgear.png"/>
          <p:cNvPicPr/>
          <p:nvPr/>
        </p:nvPicPr>
        <p:blipFill>
          <a:blip r:embed="rId2"/>
          <a:srcRect l="0" t="0" r="0" b="9508"/>
          <a:stretch/>
        </p:blipFill>
        <p:spPr>
          <a:xfrm>
            <a:off x="320040" y="2286000"/>
            <a:ext cx="3063600" cy="3042720"/>
          </a:xfrm>
          <a:prstGeom prst="rect">
            <a:avLst/>
          </a:prstGeom>
          <a:ln w="0">
            <a:noFill/>
          </a:ln>
        </p:spPr>
      </p:pic>
      <p:sp>
        <p:nvSpPr>
          <p:cNvPr id="352" name="Google Shape;399;p14"/>
          <p:cNvSpPr/>
          <p:nvPr/>
        </p:nvSpPr>
        <p:spPr>
          <a:xfrm>
            <a:off x="4572000" y="2286000"/>
            <a:ext cx="6674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222b3a"/>
                </a:solidFill>
                <a:latin typeface="Calibri"/>
                <a:ea typeface="Calibri"/>
              </a:rPr>
              <a:t>Un socle sécurisé : </a:t>
            </a:r>
            <a:r>
              <a:rPr b="0" lang="en-US" sz="1700" spc="-1" strike="noStrike">
                <a:solidFill>
                  <a:srgbClr val="222b3a"/>
                </a:solidFill>
                <a:latin typeface="Calibri"/>
                <a:ea typeface="Calibri"/>
              </a:rPr>
              <a:t>le système de permissions à deux niveaux (Global/Projet) offre une flexibilité organisationnelle maximale.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353" name="Google Shape;400;p14"/>
          <p:cNvSpPr/>
          <p:nvPr/>
        </p:nvSpPr>
        <p:spPr>
          <a:xfrm>
            <a:off x="4572000" y="3429000"/>
            <a:ext cx="6674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222b3a"/>
                </a:solidFill>
                <a:latin typeface="Calibri"/>
                <a:ea typeface="Calibri"/>
              </a:rPr>
              <a:t>Une architecture validée : </a:t>
            </a:r>
            <a:r>
              <a:rPr b="0" lang="en-US" sz="1700" spc="-1" strike="noStrike">
                <a:solidFill>
                  <a:srgbClr val="222b3a"/>
                </a:solidFill>
                <a:latin typeface="Calibri"/>
                <a:ea typeface="Calibri"/>
              </a:rPr>
              <a:t>l'approche Client/Serveur conteneurisée assure fiabilité, portabilité et préparation pour les modules S2-S6.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354" name="Google Shape;401;p14"/>
          <p:cNvSpPr/>
          <p:nvPr/>
        </p:nvSpPr>
        <p:spPr>
          <a:xfrm>
            <a:off x="4572000" y="461772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222b3a"/>
                </a:solidFill>
                <a:latin typeface="Calibri"/>
                <a:ea typeface="Calibri"/>
              </a:rPr>
              <a:t>Objectif Module 1 : </a:t>
            </a:r>
            <a:r>
              <a:rPr b="1" lang="en-US" sz="1900" spc="-1" strike="noStrike">
                <a:solidFill>
                  <a:srgbClr val="16294d"/>
                </a:solidFill>
                <a:latin typeface="Calibri"/>
                <a:ea typeface="Calibri"/>
              </a:rPr>
              <a:t>Atteint.</a:t>
            </a:r>
            <a:endParaRPr b="0" lang="fr-FR" sz="1900" spc="-1" strike="noStrike">
              <a:latin typeface="Arial"/>
            </a:endParaRPr>
          </a:p>
        </p:txBody>
      </p:sp>
      <p:pic>
        <p:nvPicPr>
          <p:cNvPr id="355" name="Google Shape;402;p14" descr="image.png"/>
          <p:cNvPicPr/>
          <p:nvPr/>
        </p:nvPicPr>
        <p:blipFill>
          <a:blip r:embed="rId3"/>
          <a:stretch/>
        </p:blipFill>
        <p:spPr>
          <a:xfrm>
            <a:off x="11155680" y="279000"/>
            <a:ext cx="868320" cy="822600"/>
          </a:xfrm>
          <a:prstGeom prst="rect">
            <a:avLst/>
          </a:prstGeom>
          <a:ln w="0">
            <a:noFill/>
          </a:ln>
        </p:spPr>
      </p:pic>
      <p:pic>
        <p:nvPicPr>
          <p:cNvPr id="356" name="Google Shape;403;p14" descr=""/>
          <p:cNvPicPr/>
          <p:nvPr/>
        </p:nvPicPr>
        <p:blipFill>
          <a:blip r:embed="rId4"/>
          <a:stretch/>
        </p:blipFill>
        <p:spPr>
          <a:xfrm>
            <a:off x="0" y="-119880"/>
            <a:ext cx="1428480" cy="14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2026-07-31T10:15:50Z</dcterms:created>
  <dc:creator>PptxGenJS</dc:creator>
  <dc:description/>
  <dc:language>fr-FR</dc:language>
  <cp:lastModifiedBy/>
  <dcterms:modified xsi:type="dcterms:W3CDTF">2026-08-05T10:19:21Z</dcterms:modified>
  <cp:revision>1</cp:revision>
  <dc:subject/>
  <dc:title/>
</cp:coreProperties>
</file>